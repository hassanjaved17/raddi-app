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6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17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Quattrocento"/>
      <p:regular r:id="rId201314"/>
    </p:embeddedFont>
    <p:embeddedFont>
      <p:font typeface="Quattrocento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7" Type="http://schemas.openxmlformats.org/officeDocument/2006/relationships/slide" Target="slides/slide9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hyperlink" Target="https://raddi-app.vercel.app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hyperlink" Target="https://raddi-app.vercel.app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048966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Raddi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2715419"/>
            <a:ext cx="62236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Doorstep Scrap Pickup, Made Simple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269971" y="3307854"/>
            <a:ext cx="6223638" cy="150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digital platform connecting households with scrap collectors across Pakistan.     Hassan Javed — SMIT Batch 18 — Capstone Presentation   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    Live prototype: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u="sng" dirty="0">
                <a:solidFill>
                  <a:srgbClr val="B53D1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raddi-app.vercel.app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/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56630"/>
            <a:ext cx="10795524" cy="430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Problem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246313"/>
            <a:ext cx="5219073" cy="295751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80886" y="1369715"/>
            <a:ext cx="5219073" cy="1022052"/>
          </a:xfrm>
          <a:prstGeom prst="roundRect">
            <a:avLst>
              <a:gd name="adj" fmla="val 2150"/>
            </a:avLst>
          </a:prstGeom>
          <a:solidFill>
            <a:srgbClr val="315251"/>
          </a:solidFill>
          <a:ln/>
        </p:spPr>
      </p:sp>
      <p:sp>
        <p:nvSpPr>
          <p:cNvPr id="5" name="Text 2"/>
          <p:cNvSpPr/>
          <p:nvPr/>
        </p:nvSpPr>
        <p:spPr>
          <a:xfrm>
            <a:off x="6427329" y="1516162"/>
            <a:ext cx="4926187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Unclear pricing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7329" y="1839119"/>
            <a:ext cx="4926187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Households often don’t know prevailing scrap rates — bargaining happens in-person with inconsistent quotes.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80886" y="2499320"/>
            <a:ext cx="5219073" cy="1022052"/>
          </a:xfrm>
          <a:prstGeom prst="roundRect">
            <a:avLst>
              <a:gd name="adj" fmla="val 2150"/>
            </a:avLst>
          </a:prstGeom>
          <a:solidFill>
            <a:srgbClr val="315251"/>
          </a:solidFill>
          <a:ln/>
        </p:spPr>
      </p:sp>
      <p:sp>
        <p:nvSpPr>
          <p:cNvPr id="8" name="Text 5"/>
          <p:cNvSpPr/>
          <p:nvPr/>
        </p:nvSpPr>
        <p:spPr>
          <a:xfrm>
            <a:off x="6427329" y="2645767"/>
            <a:ext cx="4926187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Trust in weighing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27329" y="2968724"/>
            <a:ext cx="4926187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Customers worry the final weigh or scale reading may be inaccurate or disputed.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80886" y="3628926"/>
            <a:ext cx="5219073" cy="818952"/>
          </a:xfrm>
          <a:prstGeom prst="roundRect">
            <a:avLst>
              <a:gd name="adj" fmla="val 2683"/>
            </a:avLst>
          </a:prstGeom>
          <a:solidFill>
            <a:srgbClr val="315251"/>
          </a:solidFill>
          <a:ln/>
        </p:spPr>
      </p:sp>
      <p:sp>
        <p:nvSpPr>
          <p:cNvPr id="11" name="Text 8"/>
          <p:cNvSpPr/>
          <p:nvPr/>
        </p:nvSpPr>
        <p:spPr>
          <a:xfrm>
            <a:off x="6427329" y="3775373"/>
            <a:ext cx="4926187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 convenient scheduling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7329" y="4098330"/>
            <a:ext cx="4926187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Pickups are ad-hoc — customers wait at home or miss unpredictable visits.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80886" y="4555430"/>
            <a:ext cx="5219073" cy="1022052"/>
          </a:xfrm>
          <a:prstGeom prst="roundRect">
            <a:avLst>
              <a:gd name="adj" fmla="val 2150"/>
            </a:avLst>
          </a:prstGeom>
          <a:solidFill>
            <a:srgbClr val="315251"/>
          </a:solidFill>
          <a:ln/>
        </p:spPr>
      </p:sp>
      <p:sp>
        <p:nvSpPr>
          <p:cNvPr id="14" name="Text 11"/>
          <p:cNvSpPr/>
          <p:nvPr/>
        </p:nvSpPr>
        <p:spPr>
          <a:xfrm>
            <a:off x="6427329" y="4701877"/>
            <a:ext cx="4926187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 digital record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27329" y="5024834"/>
            <a:ext cx="4926187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Transactions are cash-based with no receipts, making follow-up or reconciliation difficult.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80886" y="5698430"/>
            <a:ext cx="5219073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What if selling household scrap could be as easy as booking a pickup from your phone?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345505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Introducing Raddi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2231330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    A lightweight digital layer for the existing scrap ecosystem. The prototype demonstrates a simple customer flow:   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269971" y="3094038"/>
            <a:ext cx="6223638" cy="1874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Select scrap category and rate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Enter quantity to estimate weight &amp; payout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Choose a pickup slot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Book and receive a collector assignment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Final weigh and payout on collection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269971" y="5193308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Start with Karachi → validate the model → expand across Pakistan.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2319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How It Works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5590" y="1608832"/>
            <a:ext cx="6340515" cy="37632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8703" y="4508129"/>
            <a:ext cx="1576131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Collect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352346" y="4508129"/>
            <a:ext cx="1576131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Book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333601" y="4508129"/>
            <a:ext cx="1576132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Select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98086" y="5596434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Example scrap categories in the prototype: Paper, Plastic, Metal (copper/iron), Glass. Collector card shows: name, rating, vehicle, service area and ETA estimate.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95424"/>
            <a:ext cx="10795524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What I Built — Frontend MVP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3010098"/>
            <a:ext cx="617522" cy="6175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7706" y="3010098"/>
            <a:ext cx="2037505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Responsive landing page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310" y="3010098"/>
            <a:ext cx="617522" cy="6175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26931" y="3010098"/>
            <a:ext cx="2037604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Scrap categories &amp; today's rates ticker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3871119"/>
            <a:ext cx="617522" cy="6175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67706" y="3871119"/>
            <a:ext cx="2037505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Interactive booking form &amp; pickup slots</a:t>
            </a:r>
            <a:endParaRPr lang="en-US" sz="14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310" y="3871119"/>
            <a:ext cx="617522" cy="61753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426931" y="3871119"/>
            <a:ext cx="2037604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Weight &amp; estimated payout calculation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6851082" y="1473299"/>
            <a:ext cx="2263520" cy="2223988"/>
          </a:xfrm>
          <a:prstGeom prst="roundRect">
            <a:avLst>
              <a:gd name="adj" fmla="val 1051"/>
            </a:avLst>
          </a:prstGeom>
          <a:solidFill>
            <a:srgbClr val="315251"/>
          </a:solidFill>
          <a:ln/>
        </p:spPr>
      </p:sp>
      <p:sp>
        <p:nvSpPr>
          <p:cNvPr id="12" name="Text 6"/>
          <p:cNvSpPr/>
          <p:nvPr/>
        </p:nvSpPr>
        <p:spPr>
          <a:xfrm>
            <a:off x="7006851" y="1629073"/>
            <a:ext cx="1951981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Collector matching (mock)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7006851" y="2209205"/>
            <a:ext cx="1951981" cy="666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Mock collector pool drives simulated matching and assignment results.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9236340" y="1473299"/>
            <a:ext cx="2263619" cy="2223988"/>
          </a:xfrm>
          <a:prstGeom prst="roundRect">
            <a:avLst>
              <a:gd name="adj" fmla="val 1051"/>
            </a:avLst>
          </a:prstGeom>
          <a:solidFill>
            <a:srgbClr val="315251"/>
          </a:solidFill>
          <a:ln/>
        </p:spPr>
      </p:sp>
      <p:sp>
        <p:nvSpPr>
          <p:cNvPr id="15" name="Text 9"/>
          <p:cNvSpPr/>
          <p:nvPr/>
        </p:nvSpPr>
        <p:spPr>
          <a:xfrm>
            <a:off x="9392110" y="1629073"/>
            <a:ext cx="1952080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Assignment &amp; confirmation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9392110" y="2209205"/>
            <a:ext cx="1952080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Assigned collector card with name, rating, vehicle and arrival estimate. Loading and toast confirmation states implemented.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851082" y="3819029"/>
            <a:ext cx="2263520" cy="1328638"/>
          </a:xfrm>
          <a:prstGeom prst="roundRect">
            <a:avLst>
              <a:gd name="adj" fmla="val 1759"/>
            </a:avLst>
          </a:prstGeom>
          <a:solidFill>
            <a:srgbClr val="315251"/>
          </a:solidFill>
          <a:ln/>
        </p:spPr>
      </p:sp>
      <p:sp>
        <p:nvSpPr>
          <p:cNvPr id="18" name="Text 12"/>
          <p:cNvSpPr/>
          <p:nvPr/>
        </p:nvSpPr>
        <p:spPr>
          <a:xfrm>
            <a:off x="7006851" y="3974802"/>
            <a:ext cx="1951981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Polish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006851" y="4325739"/>
            <a:ext cx="1951981" cy="666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Responsive animations with Framer Motion; toast notifications for feedback.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236340" y="3819029"/>
            <a:ext cx="2263619" cy="1328638"/>
          </a:xfrm>
          <a:prstGeom prst="roundRect">
            <a:avLst>
              <a:gd name="adj" fmla="val 1759"/>
            </a:avLst>
          </a:prstGeom>
          <a:solidFill>
            <a:srgbClr val="315251"/>
          </a:solidFill>
          <a:ln/>
        </p:spPr>
      </p:sp>
      <p:sp>
        <p:nvSpPr>
          <p:cNvPr id="21" name="Text 15"/>
          <p:cNvSpPr/>
          <p:nvPr/>
        </p:nvSpPr>
        <p:spPr>
          <a:xfrm>
            <a:off x="9392110" y="3974802"/>
            <a:ext cx="1952080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392110" y="4325739"/>
            <a:ext cx="1952080" cy="666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React 19 · Vite · Tailwind CSS · Framer Motion · React Icons · React Hot Toast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851082" y="5284589"/>
            <a:ext cx="4648877" cy="740966"/>
          </a:xfrm>
          <a:prstGeom prst="roundRect">
            <a:avLst>
              <a:gd name="adj" fmla="val 3155"/>
            </a:avLst>
          </a:prstGeom>
          <a:solidFill>
            <a:srgbClr val="71260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6851" y="5461298"/>
            <a:ext cx="194762" cy="15577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57382" y="5433020"/>
            <a:ext cx="3986807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Collector assignment is currently simulated with mock data — no backend or real collector accounts yet.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8043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Digital Layer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490589"/>
            <a:ext cx="5154484" cy="18999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507" y="2715419"/>
            <a:ext cx="46032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Traditional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24507" y="3208139"/>
            <a:ext cx="46032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Wait for collector; manual price discussion; manual weighing; no scheduled slot; limited records.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5476" y="2490589"/>
            <a:ext cx="5154484" cy="18999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71897" y="2715419"/>
            <a:ext cx="46032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Raddi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671897" y="3208139"/>
            <a:ext cx="46032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Book pickup from phone; indicative rate shown; weight &amp; payout estimated; choose a slot; digital record planned.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98086" y="4839196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Raddi does not replace the existing scrap ecosystem — it provides a transparent, convenient digital layer to modernise interactions.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25376"/>
            <a:ext cx="10795524" cy="5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From Prototype to Real Product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565301"/>
            <a:ext cx="5725374" cy="25764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60558" y="2678931"/>
            <a:ext cx="1001913" cy="145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NOW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560558" y="2868600"/>
            <a:ext cx="1001913" cy="243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Frontend MVP launched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2551462" y="4611241"/>
            <a:ext cx="1007419" cy="145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NEXT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551462" y="4800910"/>
            <a:ext cx="1007419" cy="243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Backend, MongoDB, collector accounts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531355" y="2598676"/>
            <a:ext cx="1001914" cy="145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LATER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531355" y="2788346"/>
            <a:ext cx="1001914" cy="365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Location match, notifications, receipts, payments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522259" y="4611241"/>
            <a:ext cx="1001913" cy="145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FUTURE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22259" y="4800910"/>
            <a:ext cx="1001913" cy="243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Karachi pilot then Pakistan expansion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901285" y="1685032"/>
            <a:ext cx="2205776" cy="4336951"/>
          </a:xfrm>
          <a:prstGeom prst="roundRect">
            <a:avLst>
              <a:gd name="adj" fmla="val 1314"/>
            </a:avLst>
          </a:prstGeom>
          <a:solidFill>
            <a:srgbClr val="315251"/>
          </a:solidFill>
          <a:ln/>
        </p:spPr>
      </p:sp>
      <p:sp>
        <p:nvSpPr>
          <p:cNvPr id="13" name="Text 10"/>
          <p:cNvSpPr/>
          <p:nvPr/>
        </p:nvSpPr>
        <p:spPr>
          <a:xfrm>
            <a:off x="7094459" y="1878211"/>
            <a:ext cx="1819428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Revenue streams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094459" y="2349401"/>
            <a:ext cx="1819428" cy="3479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31000"/>
              </a:lnSpc>
              <a:buSzPct val="100000"/>
              <a:buChar char="•"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Pickup margin on collected scrap</a:t>
            </a:r>
            <a:endParaRPr lang="en-US" sz="1500" dirty="0"/>
          </a:p>
          <a:p>
            <a:pPr algn="l" marL="304800" indent="-304800">
              <a:lnSpc>
                <a:spcPct val="131000"/>
              </a:lnSpc>
              <a:buSzPct val="100000"/>
              <a:buChar char="•"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B2B subscriptions for regular scrap-generating businesses</a:t>
            </a:r>
            <a:endParaRPr lang="en-US" sz="1500" dirty="0"/>
          </a:p>
          <a:p>
            <a:pPr algn="l" marL="304800" indent="-304800">
              <a:lnSpc>
                <a:spcPct val="131000"/>
              </a:lnSpc>
              <a:buSzPct val="100000"/>
              <a:buChar char="•"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Bulk resale to recycling partners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9294183" y="1685032"/>
            <a:ext cx="2205776" cy="4336951"/>
          </a:xfrm>
          <a:prstGeom prst="roundRect">
            <a:avLst>
              <a:gd name="adj" fmla="val 1314"/>
            </a:avLst>
          </a:prstGeom>
          <a:solidFill>
            <a:srgbClr val="315251"/>
          </a:solidFill>
          <a:ln/>
        </p:spPr>
      </p:sp>
      <p:sp>
        <p:nvSpPr>
          <p:cNvPr id="16" name="Text 13"/>
          <p:cNvSpPr/>
          <p:nvPr/>
        </p:nvSpPr>
        <p:spPr>
          <a:xfrm>
            <a:off x="9487357" y="1878211"/>
            <a:ext cx="1819428" cy="568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Immediate next milestone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9487357" y="2633464"/>
            <a:ext cx="1819428" cy="2130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Build Express backend + MongoDB, create collector accounts, validate booking flow with pilot users in Karachi.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630561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Raddi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2297013"/>
            <a:ext cx="622363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Turning an informal process into a simple digital experience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3182739"/>
            <a:ext cx="6223638" cy="2044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    Current status: Interactive frontend MVP (React prototype).     Next milestone: Backend &amp; pilot validation with real users and collectors in Karachi.   </a:t>
            </a:r>
            <a:endParaRPr lang="en-US" sz="1550" dirty="0"/>
          </a:p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Thank you — Hassan Javed, SMIT Batch 18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Live prototype: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u="sng" dirty="0">
                <a:solidFill>
                  <a:srgbClr val="EF9C82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raddi-app.vercel.app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6231C"/>
                </a:solidFill>
                <a:latin typeface="Cambria"/>
              </a:rPr>
              <a:t>See It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C3A31"/>
                </a:solidFill>
                <a:latin typeface="Calibri"/>
              </a:rPr>
              <a:t>The actual working demo — not a mockup.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970159"/>
            <a:ext cx="3393338" cy="178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134751"/>
            <a:ext cx="3064154" cy="14571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016750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6231C"/>
                </a:solidFill>
                <a:latin typeface="Cambria"/>
              </a:rPr>
              <a:t>Landing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2321507"/>
            <a:ext cx="3393338" cy="308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ooking-emp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770" y="2486099"/>
            <a:ext cx="3064154" cy="27544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99178" y="6016750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6231C"/>
                </a:solidFill>
                <a:latin typeface="Cambria"/>
              </a:rPr>
              <a:t>Booking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8276" y="2764743"/>
            <a:ext cx="3393338" cy="219719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llector-assign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868" y="2929335"/>
            <a:ext cx="3064154" cy="186800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58276" y="6016750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6231C"/>
                </a:solidFill>
                <a:latin typeface="Cambria"/>
              </a:rPr>
              <a:t>Collector assigned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468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B53D1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2026-09-17T18:31:54Z</dcterms:created>
  <dcterms:modified xsi:type="dcterms:W3CDTF">2026-09-17T18:31:54Z</dcterms:modified>
</cp:coreProperties>
</file>